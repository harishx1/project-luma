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Lexend" panose="020B0604020202020204" charset="0"/>
      <p:regular r:id="rId10"/>
      <p:bold r:id="rId11"/>
    </p:embeddedFont>
    <p:embeddedFont>
      <p:font typeface="Lexend Black" panose="020B0604020202020204" charset="0"/>
      <p:bold r:id="rId12"/>
    </p:embeddedFont>
    <p:embeddedFont>
      <p:font typeface="Lexend SemiBold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4f398e49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0" name="Google Shape;170;g3a64f398e49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6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202938" y="314152"/>
            <a:ext cx="5786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LUMA</a:t>
            </a:r>
            <a:endParaRPr>
              <a:solidFill>
                <a:srgbClr val="D97706"/>
              </a:solidFill>
            </a:endParaRPr>
          </a:p>
        </p:txBody>
      </p:sp>
      <p:pic>
        <p:nvPicPr>
          <p:cNvPr id="85" name="Google Shape;85;p13" title="WhatsApp Image 2025-11-19 at 14.56.23_7ab19383.jpg"/>
          <p:cNvPicPr preferRelativeResize="0"/>
          <p:nvPr/>
        </p:nvPicPr>
        <p:blipFill rotWithShape="1">
          <a:blip r:embed="rId3">
            <a:alphaModFix/>
          </a:blip>
          <a:srcRect r="55124"/>
          <a:stretch/>
        </p:blipFill>
        <p:spPr>
          <a:xfrm>
            <a:off x="9852843" y="246350"/>
            <a:ext cx="22615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15650" y="2012666"/>
            <a:ext cx="71607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34343"/>
                </a:solidFill>
                <a:highlight>
                  <a:schemeClr val="lt1"/>
                </a:highlight>
                <a:latin typeface="Lexend SemiBold"/>
                <a:ea typeface="Lexend SemiBold"/>
                <a:cs typeface="Lexend SemiBold"/>
                <a:sym typeface="Lexend SemiBold"/>
              </a:rPr>
              <a:t>Building an Inclusive World for Neurodiverse Individuals</a:t>
            </a:r>
            <a:endParaRPr sz="3600">
              <a:solidFill>
                <a:srgbClr val="434343"/>
              </a:solidFill>
              <a:highlight>
                <a:schemeClr val="lt1"/>
              </a:highlight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02250" y="3358194"/>
            <a:ext cx="7387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Team Codevengers</a:t>
            </a:r>
            <a:endParaRPr sz="3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Harish Pudake</a:t>
            </a:r>
            <a:b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Chaitanya Sawant</a:t>
            </a:r>
            <a:endParaRPr sz="3200">
              <a:solidFill>
                <a:srgbClr val="D97706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Pradnesh Gawade</a:t>
            </a:r>
            <a:endParaRPr sz="3200">
              <a:solidFill>
                <a:srgbClr val="D97706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Vedant Sonawane</a:t>
            </a:r>
            <a:endParaRPr sz="3200">
              <a:solidFill>
                <a:srgbClr val="D97706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Parth Shinde</a:t>
            </a:r>
            <a:endParaRPr sz="3200">
              <a:solidFill>
                <a:srgbClr val="D9770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" name="Google Shape;88;p13" title="ZCOER-Logo-1-sca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00" y="246350"/>
            <a:ext cx="1414322" cy="1933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375570"/>
            <a:ext cx="3422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3375570"/>
            <a:ext cx="3422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8225" y="3375570"/>
            <a:ext cx="3422749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1044029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3600" b="1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3600" b="1" i="0" u="none" strike="noStrike" cap="none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US" sz="3600" b="1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3600" b="1" i="0" u="none" strike="noStrike" cap="none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lent</a:t>
            </a: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3600" b="1" i="0" u="none" strike="noStrike" cap="none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US" sz="3600" b="1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US" sz="3600" b="1" i="0" u="none" strike="noStrike" cap="none" dirty="0" err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isis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581025" y="1044029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2225129"/>
            <a:ext cx="99267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llions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BR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illiant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MI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nds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LO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cked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OU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r>
              <a:rPr lang="en-US" sz="21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WO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rkforce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BE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cause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WO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rld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n't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BU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ilt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1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Fo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21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21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em</a:t>
            </a:r>
            <a:r>
              <a:rPr lang="en-US" sz="21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700" b="1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85825" y="3775620"/>
            <a:ext cx="2813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1-</a:t>
            </a:r>
            <a:r>
              <a:rPr lang="en-US" sz="7200" b="1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US" sz="7200" b="1" i="0" u="none" strike="noStrike" cap="none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85825" y="4842420"/>
            <a:ext cx="281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ople 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e N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urodivergent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89425" y="3775620"/>
            <a:ext cx="281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85%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89425" y="4842420"/>
            <a:ext cx="281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tism U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employment R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te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93025" y="3775620"/>
            <a:ext cx="2813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D97706"/>
                </a:solidFill>
                <a:latin typeface="Lexend"/>
                <a:ea typeface="Lexend"/>
                <a:cs typeface="Lexend"/>
                <a:sym typeface="Lexend"/>
              </a:rPr>
              <a:t>3-7%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93025" y="4842420"/>
            <a:ext cx="2813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obal GDP L</a:t>
            </a:r>
            <a:r>
              <a:rPr lang="en-US" sz="1800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1800" b="0" i="0" u="none" strike="noStrike" cap="none">
                <a:solidFill>
                  <a:srgbClr val="78350F"/>
                </a:solidFill>
                <a:latin typeface="Lexend"/>
                <a:ea typeface="Lexend"/>
                <a:cs typeface="Lexend"/>
                <a:sym typeface="Lexend"/>
              </a:rPr>
              <a:t>ss</a:t>
            </a:r>
            <a:endParaRPr/>
          </a:p>
        </p:txBody>
      </p:sp>
      <p:pic>
        <p:nvPicPr>
          <p:cNvPr id="105" name="Google Shape;105;p14" title="WhatsApp Image 2025-11-19 at 14.56.23_7ab19383.jpg"/>
          <p:cNvPicPr preferRelativeResize="0"/>
          <p:nvPr/>
        </p:nvPicPr>
        <p:blipFill rotWithShape="1">
          <a:blip r:embed="rId6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title="ZCOER-Logo-1-scaled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993955"/>
            <a:ext cx="3422600" cy="427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625" y="1993955"/>
            <a:ext cx="3422600" cy="427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8225" y="1993955"/>
            <a:ext cx="3422600" cy="427627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1041455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y C</a:t>
            </a: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rrent S</a:t>
            </a: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lutions F</a:t>
            </a: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il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041455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3270305"/>
            <a:ext cx="279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o E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pensive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3832280"/>
            <a:ext cx="239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Ri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vate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erapy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sts ₹10k - ₹50k/mo. R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ral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milies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LE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ft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BE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hind.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65625" y="3270305"/>
            <a:ext cx="279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o G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neric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65625" y="3832280"/>
            <a:ext cx="239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andard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AP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ps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CL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uttered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OV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erwhelming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 ADHD/A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tistic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ains.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69225" y="3270305"/>
            <a:ext cx="279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rd 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o R</a:t>
            </a: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210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ad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69225" y="3832280"/>
            <a:ext cx="23946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lls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 t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xt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PO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ntrast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MA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ke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ols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usable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DY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slexic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US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ers.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248925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5625" y="24892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69225" y="248925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title="WhatsApp Image 2025-11-19 at 14.56.23_7ab19383.jpg"/>
          <p:cNvPicPr preferRelativeResize="0"/>
          <p:nvPr/>
        </p:nvPicPr>
        <p:blipFill rotWithShape="1">
          <a:blip r:embed="rId7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ZCOER-Logo-1-scaled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754738"/>
            <a:ext cx="10948425" cy="119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42822"/>
            <a:ext cx="10948425" cy="119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530905"/>
            <a:ext cx="10948425" cy="119167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09625" y="1082500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US" sz="3600" b="1" i="0" u="none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troducing </a:t>
            </a:r>
            <a:r>
              <a:rPr lang="en-US" sz="3600" b="1" i="0" u="sng" strike="noStrike" cap="none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LUMA</a:t>
            </a:r>
            <a:endParaRPr u="sng"/>
          </a:p>
        </p:txBody>
      </p:sp>
      <p:sp>
        <p:nvSpPr>
          <p:cNvPr id="135" name="Google Shape;135;p16"/>
          <p:cNvSpPr/>
          <p:nvPr/>
        </p:nvSpPr>
        <p:spPr>
          <a:xfrm>
            <a:off x="581025" y="1091856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1880749"/>
            <a:ext cx="6137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lang="en-US" sz="18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clusive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APplication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at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ADapts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US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er's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BR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ain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OT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her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WA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800" b="1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AR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ound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1238250" y="2967543"/>
            <a:ext cx="4324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US" sz="185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UMA</a:t>
            </a:r>
            <a:r>
              <a:rPr lang="en-US" sz="18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 V</a:t>
            </a:r>
            <a:r>
              <a:rPr lang="en-US" sz="185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18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ew</a:t>
            </a:r>
            <a:endParaRPr sz="1600"/>
          </a:p>
        </p:txBody>
      </p:sp>
      <p:sp>
        <p:nvSpPr>
          <p:cNvPr id="138" name="Google Shape;138;p16"/>
          <p:cNvSpPr txBox="1"/>
          <p:nvPr/>
        </p:nvSpPr>
        <p:spPr>
          <a:xfrm>
            <a:off x="885825" y="3262195"/>
            <a:ext cx="103242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Luma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exhibits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UI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ADjusts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ntrast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EAsily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RE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adable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FO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DYslexic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75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RE</a:t>
            </a:r>
            <a:r>
              <a:rPr lang="en-US" sz="175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aders.</a:t>
            </a:r>
            <a:endParaRPr sz="1800"/>
          </a:p>
        </p:txBody>
      </p:sp>
      <p:sp>
        <p:nvSpPr>
          <p:cNvPr id="139" name="Google Shape;139;p16"/>
          <p:cNvSpPr txBox="1"/>
          <p:nvPr/>
        </p:nvSpPr>
        <p:spPr>
          <a:xfrm>
            <a:off x="1266825" y="4355630"/>
            <a:ext cx="4295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Luma L</a:t>
            </a:r>
            <a:r>
              <a:rPr lang="en-US" sz="185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18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fe</a:t>
            </a:r>
            <a:endParaRPr sz="1600"/>
          </a:p>
        </p:txBody>
      </p:sp>
      <p:sp>
        <p:nvSpPr>
          <p:cNvPr id="140" name="Google Shape;140;p16"/>
          <p:cNvSpPr txBox="1"/>
          <p:nvPr/>
        </p:nvSpPr>
        <p:spPr>
          <a:xfrm>
            <a:off x="885825" y="4650278"/>
            <a:ext cx="10324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mified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leplay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PR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actice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cial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Cu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es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JO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terviews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fely.</a:t>
            </a:r>
            <a:endParaRPr sz="1800"/>
          </a:p>
        </p:txBody>
      </p:sp>
      <p:sp>
        <p:nvSpPr>
          <p:cNvPr id="141" name="Google Shape;141;p16"/>
          <p:cNvSpPr txBox="1"/>
          <p:nvPr/>
        </p:nvSpPr>
        <p:spPr>
          <a:xfrm>
            <a:off x="1209675" y="5743718"/>
            <a:ext cx="4353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u="none" strike="noStrike" cap="none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Luma </a:t>
            </a:r>
            <a:r>
              <a:rPr lang="en-US" sz="185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HEar</a:t>
            </a:r>
            <a:endParaRPr sz="1600"/>
          </a:p>
        </p:txBody>
      </p:sp>
      <p:sp>
        <p:nvSpPr>
          <p:cNvPr id="142" name="Google Shape;142;p16"/>
          <p:cNvSpPr txBox="1"/>
          <p:nvPr/>
        </p:nvSpPr>
        <p:spPr>
          <a:xfrm>
            <a:off x="885825" y="6038362"/>
            <a:ext cx="855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TU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rn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TE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xt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CL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arity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YO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u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CA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LI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sten </a:t>
            </a:r>
            <a:r>
              <a:rPr lang="en-US" sz="1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o.</a:t>
            </a:r>
            <a:endParaRPr sz="1800"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825" y="2986368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5825" y="440004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5825" y="5813716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title="WhatsApp Image 2025-11-19 at 14.56.23_7ab19383.jpg"/>
          <p:cNvPicPr preferRelativeResize="0"/>
          <p:nvPr/>
        </p:nvPicPr>
        <p:blipFill rotWithShape="1">
          <a:blip r:embed="rId8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title="ZCOER-Logo-1-scaled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1294531" y="338643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US" sz="3600" b="1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e L</a:t>
            </a:r>
            <a:r>
              <a:rPr lang="en-US" sz="3600" b="1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UMA</a:t>
            </a:r>
            <a:r>
              <a:rPr lang="en-US" sz="3600" b="1" i="0" u="none" strike="noStrike" cap="none" dirty="0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 WOrkflow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 flipH="1">
            <a:off x="1103488" y="329950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title="WhatsApp Image 2025-11-19 at 14.56.23_7ab19383.jpg"/>
          <p:cNvPicPr preferRelativeResize="0"/>
          <p:nvPr/>
        </p:nvPicPr>
        <p:blipFill rotWithShape="1">
          <a:blip r:embed="rId3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ZCOER-Logo-1-sca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title="WhatsApp Image 2025-11-19 at 16.55.33_dbef05b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050" y="1305825"/>
            <a:ext cx="11951950" cy="50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775" y="2031750"/>
            <a:ext cx="10723625" cy="37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1800" y="2407146"/>
            <a:ext cx="44291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1054596"/>
            <a:ext cx="1134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334155"/>
                </a:solidFill>
                <a:latin typeface="Lexend"/>
                <a:ea typeface="Lexend"/>
                <a:cs typeface="Lexend"/>
                <a:sym typeface="Lexend"/>
              </a:rPr>
              <a:t>EXpected IMpact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1054596"/>
            <a:ext cx="76200" cy="571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121625" y="2295300"/>
            <a:ext cx="103107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Patentable Neuro-Assistance Algorithms</a:t>
            </a: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Scalable Multi-Platform Accessibility Suite</a:t>
            </a: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AI-Driven Personalized Support Engine</a:t>
            </a: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Full Multimodal Support</a:t>
            </a: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rgbClr val="0F172A"/>
                </a:solidFill>
                <a:latin typeface="Lexend"/>
                <a:ea typeface="Lexend"/>
                <a:cs typeface="Lexend"/>
                <a:sym typeface="Lexend"/>
              </a:rPr>
              <a:t>Government and NGO Partnerships</a:t>
            </a: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0F172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18" title="WhatsApp Image 2025-11-19 at 14.56.23_7ab19383.jpg"/>
          <p:cNvPicPr preferRelativeResize="0"/>
          <p:nvPr/>
        </p:nvPicPr>
        <p:blipFill rotWithShape="1">
          <a:blip r:embed="rId5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title="ZCOER-Logo-1-scale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1846350" y="2476500"/>
            <a:ext cx="8499300" cy="1905000"/>
          </a:xfrm>
          <a:prstGeom prst="rect">
            <a:avLst/>
          </a:prstGeom>
          <a:noFill/>
          <a:ln w="381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D97706"/>
                </a:solidFill>
                <a:latin typeface="Lexend Black"/>
                <a:ea typeface="Lexend Black"/>
                <a:cs typeface="Lexend Black"/>
                <a:sym typeface="Lexend Black"/>
              </a:rPr>
              <a:t>THank YOu.</a:t>
            </a:r>
            <a:endParaRPr sz="7500">
              <a:solidFill>
                <a:srgbClr val="D97706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73" name="Google Shape;173;p19" title="WhatsApp Image 2025-11-19 at 14.56.23_7ab19383.jpg"/>
          <p:cNvPicPr preferRelativeResize="0"/>
          <p:nvPr/>
        </p:nvPicPr>
        <p:blipFill rotWithShape="1">
          <a:blip r:embed="rId3">
            <a:alphaModFix/>
          </a:blip>
          <a:srcRect r="55124"/>
          <a:stretch/>
        </p:blipFill>
        <p:spPr>
          <a:xfrm>
            <a:off x="11209950" y="62907"/>
            <a:ext cx="941107" cy="8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title="ZCOER-Logo-1-sca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22" y="88121"/>
            <a:ext cx="588549" cy="80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Widescreen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Lexend</vt:lpstr>
      <vt:lpstr>Lexend SemiBold</vt:lpstr>
      <vt:lpstr>Calibri</vt:lpstr>
      <vt:lpstr>Arial</vt:lpstr>
      <vt:lpstr>Lexend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Harish Pudake</cp:lastModifiedBy>
  <cp:revision>1</cp:revision>
  <dcterms:modified xsi:type="dcterms:W3CDTF">2025-11-19T12:03:11Z</dcterms:modified>
</cp:coreProperties>
</file>